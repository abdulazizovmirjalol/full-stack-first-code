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85" r:id="rId4"/>
    <p:sldId id="271" r:id="rId5"/>
    <p:sldId id="286" r:id="rId6"/>
    <p:sldId id="257" r:id="rId7"/>
    <p:sldId id="287" r:id="rId8"/>
    <p:sldId id="270" r:id="rId9"/>
    <p:sldId id="288" r:id="rId10"/>
    <p:sldId id="279" r:id="rId11"/>
    <p:sldId id="282" r:id="rId12"/>
    <p:sldId id="272" r:id="rId13"/>
    <p:sldId id="281" r:id="rId14"/>
    <p:sldId id="277" r:id="rId15"/>
    <p:sldId id="289" r:id="rId16"/>
    <p:sldId id="290" r:id="rId17"/>
    <p:sldId id="283" r:id="rId18"/>
    <p:sldId id="291" r:id="rId19"/>
    <p:sldId id="276" r:id="rId20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5840"/>
  </p:normalViewPr>
  <p:slideViewPr>
    <p:cSldViewPr snapToGrid="0">
      <p:cViewPr>
        <p:scale>
          <a:sx n="66" d="100"/>
          <a:sy n="66" d="100"/>
        </p:scale>
        <p:origin x="64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2EDDB-4AC0-27FB-4EA9-E64264A2D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B75810-866D-E389-78F0-F4F64418D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7AEA1-0CFA-0DF9-77BD-F784C005B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02/16/2026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42071-6737-A358-6ABF-2942E25EA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B7606-F20F-0BAD-9330-8799E148D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969428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10B6-9166-4D7D-5A46-9A01667E7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DDC87-6809-FCC2-6AEC-5891376F2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139DC-791F-111F-E7EB-927FC109D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02/16/2026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95834-D745-F262-5D51-DA52594CB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F7291-3321-7986-DC53-8FAA708C9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224130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E0A42-830B-E54F-9554-9B6A87941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13B47-0672-51E5-C880-8784A93D0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16C90-A121-B950-45DE-C650806B0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02/16/2026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04404-379F-6391-C8B6-C2F1282F2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63C48-540C-5CC3-3D0E-655734C13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2106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D9CE5-271E-5EE4-D1B5-088699439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6AE7D-2E8D-194A-A8E8-B4036EBD2C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A4AD1-192E-89D8-A773-2B1906341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E93A2-037B-757E-9991-0759B77BC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02/16/2026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5F9BC-30B6-71FD-32E3-51C8CF18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73C3A-7AD9-7E81-23A6-1920CD438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19601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DB1B-0CA4-2108-BFB6-CE0CA1D33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9069D-8178-04F2-CACC-D62E10BF4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1E179-B829-D26C-4864-D9CE34E1D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FD494-CBF9-A7E9-9423-3F9F705A67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88A331-E7D0-FA32-ACBD-F956CEBDF8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ECC135-228E-F67B-C804-F9C504D4E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02/16/2026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05FA9B-3525-2FE8-8187-6D69AC524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DD6FE-E4ED-BF96-23BB-05DB203A4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512622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0BE68-335C-2A00-C99A-95B80E787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6DA29-43A2-F2F4-1272-4FE63C4F8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02/16/2026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5C362F-5EAC-B2DC-BE3D-E0BB7A0D2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96211C-42B4-4D26-8540-4225F2A01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710185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E78DF8-E8AA-6383-0DCB-A062C640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02/16/2026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41DC97-7BCA-7111-08CC-818F75CB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96877-C017-59B5-8AFF-E50043DA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766661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0B2C-94A2-C167-CAD8-D52725B8D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78BBF-9A08-907C-E2AB-8661F26F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45D4E-932B-3D22-0AE3-6D41436D9B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413B62-6333-9DB2-0B98-84E283E19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02/16/2026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E42AE-83D4-8096-73AB-A014597D9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B92B5-462F-E7A1-8431-E1DEE4F1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1901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5F6F4-F299-A06B-6C09-9AB3A9598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03F738-E265-2B6D-6104-EF3E72976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73AAD-EBA6-3B75-1D4F-B8D62B999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23E73-48D8-3315-4120-03AEA3BC8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02/16/2026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E2E8D-13C9-1EA7-4BC6-428644409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B6390-84CB-1F66-99C1-DCE586854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56962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ACC3-27AF-0FB8-0EA3-9A76ADE3D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D14C88-6EB1-7FB8-E3B0-0895E9313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CE35A-4E04-D07C-98A8-1C4F5196D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02/16/2026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C4E5D-2D07-7593-19B1-CB5CF70F2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27350-4D22-1461-50DC-6AB6E25FC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05750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7B575-BFDD-A423-5EB3-BDA4379FA7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1101C8-6051-4910-F8D6-C792B1DDF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B96FB-0E14-8EB6-52BB-86A7F46A2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5E210-D269-D54C-985C-31A732180E63}" type="datetimeFigureOut">
              <a:rPr lang="en-UZ" smtClean="0"/>
              <a:t>02/16/2026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ECFAD-9F0B-FEBD-1B35-D4495B810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87CD3-0E58-3384-4A17-F8E729FCC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03562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EFAA7-8914-8527-A91B-6B624907E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5E210-D269-D54C-985C-31A732180E63}" type="datetimeFigureOut">
              <a:rPr lang="en-UZ" smtClean="0"/>
              <a:t>02/16/2026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C820C-84A1-F40C-05DC-D695AD007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9C557-8E2C-A035-E602-AAF975BA69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80A38-6FA2-0A48-8EDE-080FA32DB1EF}" type="slidenum">
              <a:rPr lang="en-UZ" smtClean="0"/>
              <a:t>‹#›</a:t>
            </a:fld>
            <a:endParaRPr lang="en-UZ"/>
          </a:p>
        </p:txBody>
      </p:sp>
      <p:pic>
        <p:nvPicPr>
          <p:cNvPr id="10" name="Picture 9" descr="A close-up of a logo&#10;&#10;Description automatically generated">
            <a:extLst>
              <a:ext uri="{FF2B5EF4-FFF2-40B4-BE49-F238E27FC236}">
                <a16:creationId xmlns:a16="http://schemas.microsoft.com/office/drawing/2014/main" id="{122ED645-059C-94BB-DD01-D000C5C1A6B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610600" y="136525"/>
            <a:ext cx="3222625" cy="85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949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4.png"/><Relationship Id="rId7" Type="http://schemas.openxmlformats.org/officeDocument/2006/relationships/hyperlink" Target="http://www.facebook.com/" TargetMode="External"/><Relationship Id="rId12" Type="http://schemas.openxmlformats.org/officeDocument/2006/relationships/image" Target="../media/image20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11" Type="http://schemas.openxmlformats.org/officeDocument/2006/relationships/image" Target="../media/image17.png"/><Relationship Id="rId5" Type="http://schemas.openxmlformats.org/officeDocument/2006/relationships/image" Target="../media/image15.png"/><Relationship Id="rId10" Type="http://schemas.openxmlformats.org/officeDocument/2006/relationships/hyperlink" Target="http://www.instagram.com/" TargetMode="External"/><Relationship Id="rId4" Type="http://schemas.openxmlformats.org/officeDocument/2006/relationships/hyperlink" Target="http://www.amazon.com/" TargetMode="External"/><Relationship Id="rId9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4.png"/><Relationship Id="rId7" Type="http://schemas.openxmlformats.org/officeDocument/2006/relationships/hyperlink" Target="http://www.facebook.com/" TargetMode="External"/><Relationship Id="rId12" Type="http://schemas.openxmlformats.org/officeDocument/2006/relationships/image" Target="../media/image20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11" Type="http://schemas.openxmlformats.org/officeDocument/2006/relationships/image" Target="../media/image17.png"/><Relationship Id="rId5" Type="http://schemas.openxmlformats.org/officeDocument/2006/relationships/image" Target="../media/image15.png"/><Relationship Id="rId10" Type="http://schemas.openxmlformats.org/officeDocument/2006/relationships/hyperlink" Target="http://www.instagram.com/" TargetMode="External"/><Relationship Id="rId4" Type="http://schemas.openxmlformats.org/officeDocument/2006/relationships/hyperlink" Target="http://www.amazon.com/" TargetMode="External"/><Relationship Id="rId9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01607-A900-1A69-33ED-99D7D46E1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04769"/>
            <a:ext cx="9420520" cy="1648461"/>
          </a:xfrm>
        </p:spPr>
        <p:txBody>
          <a:bodyPr/>
          <a:lstStyle/>
          <a:p>
            <a:r>
              <a:rPr lang="en-UZ" dirty="0" smtClean="0"/>
              <a:t>Full-Stack Development</a:t>
            </a:r>
            <a:r>
              <a:rPr lang="en-US" dirty="0" smtClean="0"/>
              <a:t> </a:t>
            </a:r>
            <a:r>
              <a:rPr lang="en-US" dirty="0" err="1" smtClean="0"/>
              <a:t>ga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Kirish</a:t>
            </a:r>
            <a:endParaRPr lang="en-UZ" dirty="0"/>
          </a:p>
        </p:txBody>
      </p:sp>
    </p:spTree>
    <p:extLst>
      <p:ext uri="{BB962C8B-B14F-4D97-AF65-F5344CB8AC3E}">
        <p14:creationId xmlns:p14="http://schemas.microsoft.com/office/powerpoint/2010/main" val="3827469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59F5D-73B6-04FD-B25D-ACE76EFBF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5741"/>
          </a:xfrm>
        </p:spPr>
        <p:txBody>
          <a:bodyPr/>
          <a:lstStyle/>
          <a:p>
            <a:r>
              <a:rPr lang="en-UZ" dirty="0" smtClean="0">
                <a:latin typeface="Arial" panose="020B0604020202020204" pitchFamily="34" charset="0"/>
                <a:cs typeface="Arial" panose="020B0604020202020204" pitchFamily="34" charset="0"/>
              </a:rPr>
              <a:t>Course Purpose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8B34CD-23E7-2C0C-FA1B-E227C63CBDB5}"/>
              </a:ext>
            </a:extLst>
          </p:cNvPr>
          <p:cNvSpPr txBox="1"/>
          <p:nvPr/>
        </p:nvSpPr>
        <p:spPr>
          <a:xfrm>
            <a:off x="838200" y="1327378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equip students with practical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Full-Stack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development skills, enabling them to create dynamic, robust, secure servers and databases.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4576B49-7549-DFA5-FC48-225D837B00F1}"/>
              </a:ext>
            </a:extLst>
          </p:cNvPr>
          <p:cNvSpPr>
            <a:spLocks noChangeAspect="1"/>
          </p:cNvSpPr>
          <p:nvPr/>
        </p:nvSpPr>
        <p:spPr>
          <a:xfrm>
            <a:off x="7827065" y="2559326"/>
            <a:ext cx="1803952" cy="2186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Z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B64A911-01C5-3026-6504-310FFFF6C68F}"/>
              </a:ext>
            </a:extLst>
          </p:cNvPr>
          <p:cNvSpPr txBox="1"/>
          <p:nvPr/>
        </p:nvSpPr>
        <p:spPr>
          <a:xfrm>
            <a:off x="557845" y="2394698"/>
            <a:ext cx="6096000" cy="3164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By the end of the course, students will: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Understand the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frontend-backend relationship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Master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from basic to advanced levels.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Build and deploy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Node.js &amp;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Express.js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backend applications.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Work with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PostgreSQL databases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to store and manage data.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Design and consume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REST APIs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for data exchange.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Implement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security best practices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in web applications.</a:t>
            </a:r>
            <a:endParaRPr lang="en-UZ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black and white image of a skeleton&#10;&#10;Description automatically generated">
            <a:extLst>
              <a:ext uri="{FF2B5EF4-FFF2-40B4-BE49-F238E27FC236}">
                <a16:creationId xmlns:a16="http://schemas.microsoft.com/office/drawing/2014/main" id="{AFFE9D27-75A7-B8A0-9D47-2554C7F2C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414" y="1932928"/>
            <a:ext cx="979964" cy="2200903"/>
          </a:xfrm>
          <a:prstGeom prst="rect">
            <a:avLst/>
          </a:prstGeom>
        </p:spPr>
      </p:pic>
      <p:pic>
        <p:nvPicPr>
          <p:cNvPr id="7" name="Picture 6" descr="A cartoon of a person with his arms crossed&#10;&#10;Description automatically generated">
            <a:extLst>
              <a:ext uri="{FF2B5EF4-FFF2-40B4-BE49-F238E27FC236}">
                <a16:creationId xmlns:a16="http://schemas.microsoft.com/office/drawing/2014/main" id="{A02DE5EA-9614-CAAE-6CF5-51751F22D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6968" y="1928657"/>
            <a:ext cx="1089705" cy="2179410"/>
          </a:xfrm>
          <a:prstGeom prst="rect">
            <a:avLst/>
          </a:prstGeom>
        </p:spPr>
      </p:pic>
      <p:pic>
        <p:nvPicPr>
          <p:cNvPr id="9" name="Picture 8" descr="A cartoon of a person&#10;&#10;Description automatically generated">
            <a:extLst>
              <a:ext uri="{FF2B5EF4-FFF2-40B4-BE49-F238E27FC236}">
                <a16:creationId xmlns:a16="http://schemas.microsoft.com/office/drawing/2014/main" id="{B4A2CF3A-4352-2488-768D-92142B00F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921" y="1927988"/>
            <a:ext cx="1016022" cy="2176046"/>
          </a:xfrm>
          <a:prstGeom prst="rect">
            <a:avLst/>
          </a:prstGeom>
        </p:spPr>
      </p:pic>
      <p:pic>
        <p:nvPicPr>
          <p:cNvPr id="11" name="Picture 10" descr="A cartoon of a person holding a paper&#10;&#10;Description automatically generated">
            <a:extLst>
              <a:ext uri="{FF2B5EF4-FFF2-40B4-BE49-F238E27FC236}">
                <a16:creationId xmlns:a16="http://schemas.microsoft.com/office/drawing/2014/main" id="{D36DD0F1-F21E-8C8E-D6C7-4224993BB9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0122" y="4392054"/>
            <a:ext cx="984256" cy="2277135"/>
          </a:xfrm>
          <a:prstGeom prst="rect">
            <a:avLst/>
          </a:prstGeom>
        </p:spPr>
      </p:pic>
      <p:pic>
        <p:nvPicPr>
          <p:cNvPr id="13" name="Picture 12" descr="A cartoon of a person&#10;&#10;Description automatically generated">
            <a:extLst>
              <a:ext uri="{FF2B5EF4-FFF2-40B4-BE49-F238E27FC236}">
                <a16:creationId xmlns:a16="http://schemas.microsoft.com/office/drawing/2014/main" id="{FC1A1D66-4C64-A25E-45A5-0F3979A99B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3731" y="4300022"/>
            <a:ext cx="1014947" cy="2407130"/>
          </a:xfrm>
          <a:prstGeom prst="rect">
            <a:avLst/>
          </a:prstGeom>
        </p:spPr>
      </p:pic>
      <p:pic>
        <p:nvPicPr>
          <p:cNvPr id="15" name="Picture 14" descr="A person in a suit&#10;&#10;Description automatically generated">
            <a:extLst>
              <a:ext uri="{FF2B5EF4-FFF2-40B4-BE49-F238E27FC236}">
                <a16:creationId xmlns:a16="http://schemas.microsoft.com/office/drawing/2014/main" id="{A1BCD20A-D2C5-91A7-CA89-61824DD215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7406" y="1916559"/>
            <a:ext cx="1014947" cy="2176046"/>
          </a:xfrm>
          <a:prstGeom prst="rect">
            <a:avLst/>
          </a:prstGeom>
        </p:spPr>
      </p:pic>
      <p:pic>
        <p:nvPicPr>
          <p:cNvPr id="17" name="Picture 16" descr="A black and white image of a human body&#10;&#10;Description automatically generated">
            <a:extLst>
              <a:ext uri="{FF2B5EF4-FFF2-40B4-BE49-F238E27FC236}">
                <a16:creationId xmlns:a16="http://schemas.microsoft.com/office/drawing/2014/main" id="{83E9D751-8132-8EF8-8DEC-40858665D6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7345" y="4338930"/>
            <a:ext cx="1420502" cy="2364562"/>
          </a:xfrm>
          <a:prstGeom prst="rect">
            <a:avLst/>
          </a:prstGeom>
        </p:spPr>
      </p:pic>
      <p:pic>
        <p:nvPicPr>
          <p:cNvPr id="21" name="Picture 20" descr="A cartoon of a person holding a tablet&#10;&#10;Description automatically generated">
            <a:extLst>
              <a:ext uri="{FF2B5EF4-FFF2-40B4-BE49-F238E27FC236}">
                <a16:creationId xmlns:a16="http://schemas.microsoft.com/office/drawing/2014/main" id="{0F117BE9-7851-1616-674D-798002A05E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3669" y="4402005"/>
            <a:ext cx="1239058" cy="220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188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59F5D-73B6-04FD-B25D-ACE76EFBF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5741"/>
          </a:xfrm>
        </p:spPr>
        <p:txBody>
          <a:bodyPr/>
          <a:lstStyle/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Kursning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maqsadi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8B34CD-23E7-2C0C-FA1B-E227C63CBDB5}"/>
              </a:ext>
            </a:extLst>
          </p:cNvPr>
          <p:cNvSpPr txBox="1"/>
          <p:nvPr/>
        </p:nvSpPr>
        <p:spPr>
          <a:xfrm>
            <a:off x="838200" y="1327378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Talabalarga</a:t>
            </a:r>
            <a:r>
              <a:rPr lang="en-US" dirty="0"/>
              <a:t> </a:t>
            </a:r>
            <a:r>
              <a:rPr lang="en-US" dirty="0" err="1"/>
              <a:t>haqiqiy</a:t>
            </a:r>
            <a:r>
              <a:rPr lang="en-US" dirty="0"/>
              <a:t> Full-Stack </a:t>
            </a:r>
            <a:r>
              <a:rPr lang="en-US" dirty="0" err="1"/>
              <a:t>dasturchi</a:t>
            </a:r>
            <a:r>
              <a:rPr lang="en-US" dirty="0"/>
              <a:t> </a:t>
            </a:r>
            <a:r>
              <a:rPr lang="en-US" dirty="0" err="1"/>
              <a:t>bo‘lish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zarur</a:t>
            </a:r>
            <a:r>
              <a:rPr lang="en-US" dirty="0"/>
              <a:t> </a:t>
            </a:r>
            <a:r>
              <a:rPr lang="en-US" dirty="0" err="1"/>
              <a:t>amaliy</a:t>
            </a:r>
            <a:r>
              <a:rPr lang="en-US" dirty="0"/>
              <a:t> </a:t>
            </a:r>
            <a:r>
              <a:rPr lang="en-US" dirty="0" err="1"/>
              <a:t>ko‘nikmalarni</a:t>
            </a:r>
            <a:r>
              <a:rPr lang="en-US" dirty="0"/>
              <a:t> </a:t>
            </a:r>
            <a:r>
              <a:rPr lang="en-US" dirty="0" err="1"/>
              <a:t>o‘rgatish</a:t>
            </a:r>
            <a:r>
              <a:rPr lang="en-US" dirty="0"/>
              <a:t>: </a:t>
            </a:r>
            <a:r>
              <a:rPr lang="en-US" dirty="0" err="1"/>
              <a:t>dinamik</a:t>
            </a:r>
            <a:r>
              <a:rPr lang="en-US" dirty="0"/>
              <a:t>, </a:t>
            </a:r>
            <a:r>
              <a:rPr lang="en-US" dirty="0" err="1"/>
              <a:t>ishonchli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xavfsiz</a:t>
            </a:r>
            <a:r>
              <a:rPr lang="en-US" dirty="0"/>
              <a:t> </a:t>
            </a:r>
            <a:r>
              <a:rPr lang="en-US" dirty="0" err="1"/>
              <a:t>serverlar</a:t>
            </a:r>
            <a:r>
              <a:rPr lang="en-US" dirty="0"/>
              <a:t> </a:t>
            </a:r>
            <a:r>
              <a:rPr lang="en-US" dirty="0" err="1"/>
              <a:t>hamda</a:t>
            </a:r>
            <a:r>
              <a:rPr lang="en-US" dirty="0"/>
              <a:t> </a:t>
            </a:r>
            <a:r>
              <a:rPr lang="en-US" dirty="0" err="1"/>
              <a:t>ma’lumotlar</a:t>
            </a:r>
            <a:r>
              <a:rPr lang="en-US" dirty="0"/>
              <a:t> </a:t>
            </a:r>
            <a:r>
              <a:rPr lang="en-US" dirty="0" err="1"/>
              <a:t>bazalarini</a:t>
            </a:r>
            <a:r>
              <a:rPr lang="en-US" dirty="0"/>
              <a:t> </a:t>
            </a:r>
            <a:r>
              <a:rPr lang="en-US" dirty="0" err="1"/>
              <a:t>mustaqil</a:t>
            </a:r>
            <a:r>
              <a:rPr lang="en-US" dirty="0"/>
              <a:t> </a:t>
            </a:r>
            <a:r>
              <a:rPr lang="en-US" dirty="0" err="1"/>
              <a:t>yaratib</a:t>
            </a:r>
            <a:r>
              <a:rPr lang="en-US" dirty="0"/>
              <a:t>, </a:t>
            </a:r>
            <a:r>
              <a:rPr lang="en-US" dirty="0" err="1"/>
              <a:t>ishga</a:t>
            </a:r>
            <a:r>
              <a:rPr lang="en-US" dirty="0"/>
              <a:t> </a:t>
            </a:r>
            <a:r>
              <a:rPr lang="en-US" dirty="0" err="1"/>
              <a:t>tushira</a:t>
            </a:r>
            <a:r>
              <a:rPr lang="en-US" dirty="0"/>
              <a:t> </a:t>
            </a:r>
            <a:r>
              <a:rPr lang="en-US" dirty="0" err="1"/>
              <a:t>olish</a:t>
            </a:r>
            <a:r>
              <a:rPr lang="en-US" dirty="0"/>
              <a:t> </a:t>
            </a:r>
            <a:r>
              <a:rPr lang="en-US" dirty="0" err="1"/>
              <a:t>darajasiga</a:t>
            </a:r>
            <a:r>
              <a:rPr lang="en-US" dirty="0"/>
              <a:t> </a:t>
            </a:r>
            <a:r>
              <a:rPr lang="en-US" dirty="0" err="1"/>
              <a:t>yetkazish</a:t>
            </a:r>
            <a:r>
              <a:rPr lang="en-US" dirty="0"/>
              <a:t>.</a:t>
            </a:r>
            <a:endParaRPr lang="en-US" dirty="0">
              <a:effectLst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4576B49-7549-DFA5-FC48-225D837B00F1}"/>
              </a:ext>
            </a:extLst>
          </p:cNvPr>
          <p:cNvSpPr>
            <a:spLocks noChangeAspect="1"/>
          </p:cNvSpPr>
          <p:nvPr/>
        </p:nvSpPr>
        <p:spPr>
          <a:xfrm>
            <a:off x="7827065" y="2559326"/>
            <a:ext cx="1803952" cy="2186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Z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B64A911-01C5-3026-6504-310FFFF6C68F}"/>
              </a:ext>
            </a:extLst>
          </p:cNvPr>
          <p:cNvSpPr txBox="1"/>
          <p:nvPr/>
        </p:nvSpPr>
        <p:spPr>
          <a:xfrm>
            <a:off x="557845" y="2394698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Kursni</a:t>
            </a:r>
            <a:r>
              <a:rPr lang="en-US" dirty="0"/>
              <a:t> </a:t>
            </a:r>
            <a:r>
              <a:rPr lang="en-US" dirty="0" err="1"/>
              <a:t>tugatgach</a:t>
            </a:r>
            <a:r>
              <a:rPr lang="en-US" dirty="0"/>
              <a:t>, </a:t>
            </a:r>
            <a:r>
              <a:rPr lang="en-US" dirty="0" err="1"/>
              <a:t>talabalar</a:t>
            </a:r>
            <a:r>
              <a:rPr lang="en-US" dirty="0"/>
              <a:t> </a:t>
            </a:r>
            <a:r>
              <a:rPr lang="en-US" dirty="0" err="1"/>
              <a:t>quyidagi</a:t>
            </a:r>
            <a:r>
              <a:rPr lang="en-US" dirty="0"/>
              <a:t> </a:t>
            </a:r>
            <a:r>
              <a:rPr lang="en-US" dirty="0" err="1"/>
              <a:t>natijalarga</a:t>
            </a:r>
            <a:r>
              <a:rPr lang="en-US" dirty="0"/>
              <a:t> </a:t>
            </a:r>
            <a:r>
              <a:rPr lang="en-US" dirty="0" err="1"/>
              <a:t>erishadilar</a:t>
            </a:r>
            <a:r>
              <a:rPr lang="en-US" dirty="0"/>
              <a:t>: 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dirty="0"/>
              <a:t>Frontend </a:t>
            </a:r>
            <a:r>
              <a:rPr lang="en-US" dirty="0" err="1"/>
              <a:t>va</a:t>
            </a:r>
            <a:r>
              <a:rPr lang="en-US" dirty="0"/>
              <a:t> backend </a:t>
            </a:r>
            <a:r>
              <a:rPr lang="en-US" dirty="0" err="1"/>
              <a:t>qanday</a:t>
            </a:r>
            <a:r>
              <a:rPr lang="en-US" dirty="0"/>
              <a:t> </a:t>
            </a:r>
            <a:r>
              <a:rPr lang="en-US" dirty="0" err="1"/>
              <a:t>bir-biri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ishlayotganini</a:t>
            </a:r>
            <a:r>
              <a:rPr lang="en-US" dirty="0"/>
              <a:t> </a:t>
            </a:r>
            <a:r>
              <a:rPr lang="en-US" dirty="0" err="1"/>
              <a:t>aniq</a:t>
            </a:r>
            <a:r>
              <a:rPr lang="en-US" dirty="0"/>
              <a:t> </a:t>
            </a:r>
            <a:r>
              <a:rPr lang="en-US" dirty="0" err="1"/>
              <a:t>tushunadilar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dirty="0"/>
              <a:t>JavaScript-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noldan</a:t>
            </a:r>
            <a:r>
              <a:rPr lang="en-US" dirty="0"/>
              <a:t> professional </a:t>
            </a:r>
            <a:r>
              <a:rPr lang="en-US" dirty="0" err="1"/>
              <a:t>darajagacha</a:t>
            </a:r>
            <a:r>
              <a:rPr lang="en-US" dirty="0"/>
              <a:t> </a:t>
            </a:r>
            <a:r>
              <a:rPr lang="en-US" dirty="0" err="1"/>
              <a:t>mukammal</a:t>
            </a:r>
            <a:r>
              <a:rPr lang="en-US" dirty="0"/>
              <a:t> </a:t>
            </a:r>
            <a:r>
              <a:rPr lang="en-US" dirty="0" err="1"/>
              <a:t>egallaydilar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dirty="0"/>
              <a:t>Node.js + Express.js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to‘liq</a:t>
            </a:r>
            <a:r>
              <a:rPr lang="en-US" dirty="0"/>
              <a:t> </a:t>
            </a:r>
            <a:r>
              <a:rPr lang="en-US" dirty="0" err="1"/>
              <a:t>ishlaydigan</a:t>
            </a:r>
            <a:r>
              <a:rPr lang="en-US" dirty="0"/>
              <a:t> backend </a:t>
            </a:r>
            <a:r>
              <a:rPr lang="en-US" dirty="0" err="1"/>
              <a:t>serverlar</a:t>
            </a:r>
            <a:r>
              <a:rPr lang="en-US" dirty="0"/>
              <a:t> </a:t>
            </a:r>
            <a:r>
              <a:rPr lang="en-US" dirty="0" err="1"/>
              <a:t>qurib</a:t>
            </a:r>
            <a:r>
              <a:rPr lang="en-US" dirty="0"/>
              <a:t>, </a:t>
            </a:r>
            <a:r>
              <a:rPr lang="en-US" dirty="0" err="1"/>
              <a:t>ularni</a:t>
            </a:r>
            <a:r>
              <a:rPr lang="en-US" dirty="0"/>
              <a:t> </a:t>
            </a:r>
            <a:r>
              <a:rPr lang="en-US" dirty="0" err="1"/>
              <a:t>onlayn</a:t>
            </a:r>
            <a:r>
              <a:rPr lang="en-US" dirty="0"/>
              <a:t> </a:t>
            </a:r>
            <a:r>
              <a:rPr lang="en-US" dirty="0" err="1"/>
              <a:t>joylashtirishni</a:t>
            </a:r>
            <a:r>
              <a:rPr lang="en-US" dirty="0"/>
              <a:t> </a:t>
            </a:r>
            <a:r>
              <a:rPr lang="en-US" dirty="0" err="1"/>
              <a:t>o‘rganadilar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• MySQL </a:t>
            </a:r>
            <a:r>
              <a:rPr lang="en-US" dirty="0" err="1"/>
              <a:t>ma’lumotlar</a:t>
            </a:r>
            <a:r>
              <a:rPr lang="en-US" dirty="0"/>
              <a:t> </a:t>
            </a:r>
            <a:r>
              <a:rPr lang="en-US" dirty="0" err="1"/>
              <a:t>bazasida</a:t>
            </a:r>
            <a:r>
              <a:rPr lang="en-US" dirty="0"/>
              <a:t> </a:t>
            </a:r>
            <a:r>
              <a:rPr lang="en-US" dirty="0" err="1"/>
              <a:t>ma’lumotlarni</a:t>
            </a:r>
            <a:r>
              <a:rPr lang="en-US" dirty="0"/>
              <a:t> </a:t>
            </a:r>
            <a:r>
              <a:rPr lang="en-US" dirty="0" err="1"/>
              <a:t>saqlash</a:t>
            </a:r>
            <a:r>
              <a:rPr lang="en-US" dirty="0"/>
              <a:t>, </a:t>
            </a:r>
            <a:r>
              <a:rPr lang="en-US" dirty="0" err="1"/>
              <a:t>o‘zgartirish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samarali</a:t>
            </a:r>
            <a:r>
              <a:rPr lang="en-US" dirty="0"/>
              <a:t> </a:t>
            </a:r>
            <a:r>
              <a:rPr lang="en-US" dirty="0" err="1"/>
              <a:t>boshqarishni</a:t>
            </a:r>
            <a:r>
              <a:rPr lang="en-US" dirty="0"/>
              <a:t> </a:t>
            </a:r>
            <a:r>
              <a:rPr lang="en-US" dirty="0" err="1"/>
              <a:t>biladilar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dirty="0"/>
              <a:t>REST API-</a:t>
            </a:r>
            <a:r>
              <a:rPr lang="en-US" dirty="0" err="1"/>
              <a:t>larni</a:t>
            </a:r>
            <a:r>
              <a:rPr lang="en-US" dirty="0"/>
              <a:t> </a:t>
            </a:r>
            <a:r>
              <a:rPr lang="en-US" dirty="0" err="1"/>
              <a:t>yaratish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ulardan</a:t>
            </a:r>
            <a:r>
              <a:rPr lang="en-US" dirty="0"/>
              <a:t> </a:t>
            </a:r>
            <a:r>
              <a:rPr lang="en-US" dirty="0" err="1"/>
              <a:t>foydalanish</a:t>
            </a:r>
            <a:r>
              <a:rPr lang="en-US" dirty="0"/>
              <a:t> </a:t>
            </a:r>
            <a:r>
              <a:rPr lang="en-US" dirty="0" err="1"/>
              <a:t>tajribasiga</a:t>
            </a:r>
            <a:r>
              <a:rPr lang="en-US" dirty="0"/>
              <a:t> </a:t>
            </a:r>
            <a:r>
              <a:rPr lang="en-US" dirty="0" err="1"/>
              <a:t>ega</a:t>
            </a:r>
            <a:r>
              <a:rPr lang="en-US" dirty="0"/>
              <a:t> </a:t>
            </a:r>
            <a:r>
              <a:rPr lang="en-US" dirty="0" err="1"/>
              <a:t>bo‘ladilar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dirty="0" err="1"/>
              <a:t>Veb-dasturlarda</a:t>
            </a:r>
            <a:r>
              <a:rPr lang="en-US" dirty="0"/>
              <a:t> </a:t>
            </a:r>
            <a:r>
              <a:rPr lang="en-US" dirty="0" err="1"/>
              <a:t>xavfsizlikni</a:t>
            </a:r>
            <a:r>
              <a:rPr lang="en-US" dirty="0"/>
              <a:t> </a:t>
            </a:r>
            <a:r>
              <a:rPr lang="en-US" dirty="0" err="1"/>
              <a:t>ta’minlashning</a:t>
            </a:r>
            <a:r>
              <a:rPr lang="en-US" dirty="0"/>
              <a:t> </a:t>
            </a:r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usullari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eng</a:t>
            </a:r>
            <a:r>
              <a:rPr lang="en-US" dirty="0"/>
              <a:t> </a:t>
            </a:r>
            <a:r>
              <a:rPr lang="en-US" dirty="0" err="1"/>
              <a:t>yaxshi</a:t>
            </a:r>
            <a:r>
              <a:rPr lang="en-US" dirty="0"/>
              <a:t> </a:t>
            </a:r>
            <a:r>
              <a:rPr lang="en-US" dirty="0" err="1"/>
              <a:t>amaliyotlarini</a:t>
            </a:r>
            <a:r>
              <a:rPr lang="en-US" dirty="0"/>
              <a:t> </a:t>
            </a:r>
            <a:r>
              <a:rPr lang="en-US" dirty="0" err="1"/>
              <a:t>qo‘llay</a:t>
            </a:r>
            <a:r>
              <a:rPr lang="en-US" dirty="0"/>
              <a:t> </a:t>
            </a:r>
            <a:r>
              <a:rPr lang="en-US" dirty="0" err="1"/>
              <a:t>oladilar</a:t>
            </a:r>
            <a:endParaRPr lang="en-US" dirty="0">
              <a:effectLst/>
            </a:endParaRPr>
          </a:p>
        </p:txBody>
      </p:sp>
      <p:pic>
        <p:nvPicPr>
          <p:cNvPr id="4" name="Picture 3" descr="A black and white image of a skeleton&#10;&#10;Description automatically generated">
            <a:extLst>
              <a:ext uri="{FF2B5EF4-FFF2-40B4-BE49-F238E27FC236}">
                <a16:creationId xmlns:a16="http://schemas.microsoft.com/office/drawing/2014/main" id="{AFFE9D27-75A7-B8A0-9D47-2554C7F2C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414" y="1932928"/>
            <a:ext cx="979964" cy="2200903"/>
          </a:xfrm>
          <a:prstGeom prst="rect">
            <a:avLst/>
          </a:prstGeom>
        </p:spPr>
      </p:pic>
      <p:pic>
        <p:nvPicPr>
          <p:cNvPr id="7" name="Picture 6" descr="A cartoon of a person with his arms crossed&#10;&#10;Description automatically generated">
            <a:extLst>
              <a:ext uri="{FF2B5EF4-FFF2-40B4-BE49-F238E27FC236}">
                <a16:creationId xmlns:a16="http://schemas.microsoft.com/office/drawing/2014/main" id="{A02DE5EA-9614-CAAE-6CF5-51751F22D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6968" y="1928657"/>
            <a:ext cx="1089705" cy="2179410"/>
          </a:xfrm>
          <a:prstGeom prst="rect">
            <a:avLst/>
          </a:prstGeom>
        </p:spPr>
      </p:pic>
      <p:pic>
        <p:nvPicPr>
          <p:cNvPr id="9" name="Picture 8" descr="A cartoon of a person&#10;&#10;Description automatically generated">
            <a:extLst>
              <a:ext uri="{FF2B5EF4-FFF2-40B4-BE49-F238E27FC236}">
                <a16:creationId xmlns:a16="http://schemas.microsoft.com/office/drawing/2014/main" id="{B4A2CF3A-4352-2488-768D-92142B00F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921" y="1927988"/>
            <a:ext cx="1016022" cy="2176046"/>
          </a:xfrm>
          <a:prstGeom prst="rect">
            <a:avLst/>
          </a:prstGeom>
        </p:spPr>
      </p:pic>
      <p:pic>
        <p:nvPicPr>
          <p:cNvPr id="11" name="Picture 10" descr="A cartoon of a person holding a paper&#10;&#10;Description automatically generated">
            <a:extLst>
              <a:ext uri="{FF2B5EF4-FFF2-40B4-BE49-F238E27FC236}">
                <a16:creationId xmlns:a16="http://schemas.microsoft.com/office/drawing/2014/main" id="{D36DD0F1-F21E-8C8E-D6C7-4224993BB9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0122" y="4392054"/>
            <a:ext cx="984256" cy="2277135"/>
          </a:xfrm>
          <a:prstGeom prst="rect">
            <a:avLst/>
          </a:prstGeom>
        </p:spPr>
      </p:pic>
      <p:pic>
        <p:nvPicPr>
          <p:cNvPr id="13" name="Picture 12" descr="A cartoon of a person&#10;&#10;Description automatically generated">
            <a:extLst>
              <a:ext uri="{FF2B5EF4-FFF2-40B4-BE49-F238E27FC236}">
                <a16:creationId xmlns:a16="http://schemas.microsoft.com/office/drawing/2014/main" id="{FC1A1D66-4C64-A25E-45A5-0F3979A99B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3731" y="4300022"/>
            <a:ext cx="1014947" cy="2407130"/>
          </a:xfrm>
          <a:prstGeom prst="rect">
            <a:avLst/>
          </a:prstGeom>
        </p:spPr>
      </p:pic>
      <p:pic>
        <p:nvPicPr>
          <p:cNvPr id="15" name="Picture 14" descr="A person in a suit&#10;&#10;Description automatically generated">
            <a:extLst>
              <a:ext uri="{FF2B5EF4-FFF2-40B4-BE49-F238E27FC236}">
                <a16:creationId xmlns:a16="http://schemas.microsoft.com/office/drawing/2014/main" id="{A1BCD20A-D2C5-91A7-CA89-61824DD215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7406" y="1916559"/>
            <a:ext cx="1014947" cy="2176046"/>
          </a:xfrm>
          <a:prstGeom prst="rect">
            <a:avLst/>
          </a:prstGeom>
        </p:spPr>
      </p:pic>
      <p:pic>
        <p:nvPicPr>
          <p:cNvPr id="17" name="Picture 16" descr="A black and white image of a human body&#10;&#10;Description automatically generated">
            <a:extLst>
              <a:ext uri="{FF2B5EF4-FFF2-40B4-BE49-F238E27FC236}">
                <a16:creationId xmlns:a16="http://schemas.microsoft.com/office/drawing/2014/main" id="{83E9D751-8132-8EF8-8DEC-40858665D6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7345" y="4338930"/>
            <a:ext cx="1420502" cy="2364562"/>
          </a:xfrm>
          <a:prstGeom prst="rect">
            <a:avLst/>
          </a:prstGeom>
        </p:spPr>
      </p:pic>
      <p:pic>
        <p:nvPicPr>
          <p:cNvPr id="21" name="Picture 20" descr="A cartoon of a person holding a tablet&#10;&#10;Description automatically generated">
            <a:extLst>
              <a:ext uri="{FF2B5EF4-FFF2-40B4-BE49-F238E27FC236}">
                <a16:creationId xmlns:a16="http://schemas.microsoft.com/office/drawing/2014/main" id="{0F117BE9-7851-1616-674D-798002A05E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3669" y="4402005"/>
            <a:ext cx="1239058" cy="220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282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D5E1E-1207-2C26-D574-07D710CA3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362825" cy="806450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Course Schedule and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6896A-9F0B-8BD5-7E3F-6F7B1DDDC5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74033" y="1709298"/>
            <a:ext cx="5465511" cy="204027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Z" sz="2000" dirty="0">
                <a:latin typeface="Arial" panose="020B0604020202020204" pitchFamily="34" charset="0"/>
                <a:cs typeface="Arial" panose="020B0604020202020204" pitchFamily="34" charset="0"/>
              </a:rPr>
              <a:t>lectures per week - 80 minutes per lecture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Z" sz="2000" dirty="0">
                <a:latin typeface="Arial" panose="020B0604020202020204" pitchFamily="34" charset="0"/>
                <a:cs typeface="Arial" panose="020B0604020202020204" pitchFamily="34" charset="0"/>
              </a:rPr>
              <a:t>lectures Theory</a:t>
            </a:r>
          </a:p>
          <a:p>
            <a:pPr>
              <a:lnSpc>
                <a:spcPct val="150000"/>
              </a:lnSpc>
            </a:pPr>
            <a:r>
              <a:rPr lang="en-UZ" sz="2000" dirty="0">
                <a:latin typeface="Arial" panose="020B0604020202020204" pitchFamily="34" charset="0"/>
                <a:cs typeface="Arial" panose="020B0604020202020204" pitchFamily="34" charset="0"/>
              </a:rPr>
              <a:t>2 lectures Practise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C4E26E-24DB-03CC-90BE-1351E4A84243}"/>
              </a:ext>
            </a:extLst>
          </p:cNvPr>
          <p:cNvSpPr txBox="1"/>
          <p:nvPr/>
        </p:nvSpPr>
        <p:spPr>
          <a:xfrm>
            <a:off x="974033" y="3906867"/>
            <a:ext cx="5956703" cy="1420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Z" sz="2000" dirty="0">
                <a:latin typeface="Arial" panose="020B0604020202020204" pitchFamily="34" charset="0"/>
                <a:cs typeface="Arial" panose="020B0604020202020204" pitchFamily="34" charset="0"/>
              </a:rPr>
              <a:t>Attending classes on time and be active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Z" sz="2000" dirty="0">
                <a:latin typeface="Arial" panose="020B0604020202020204" pitchFamily="34" charset="0"/>
                <a:cs typeface="Arial" panose="020B0604020202020204" pitchFamily="34" charset="0"/>
              </a:rPr>
              <a:t>Completing homework on time without cheating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Z" sz="2000" dirty="0">
                <a:latin typeface="Arial" panose="020B0604020202020204" pitchFamily="34" charset="0"/>
                <a:cs typeface="Arial" panose="020B0604020202020204" pitchFamily="34" charset="0"/>
              </a:rPr>
              <a:t>Do not play games and sleep during class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C01EC3-8B94-1AD9-4A65-2A3B4545F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353" y="1197869"/>
            <a:ext cx="4333343" cy="28699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E74C65-DF3E-9497-D813-25475575F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53" y="4225137"/>
            <a:ext cx="4333343" cy="24375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E805366-E549-A741-B618-D5AD76EBA9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616412"/>
            <a:ext cx="6580909" cy="658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975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D5E1E-1207-2C26-D574-07D710CA3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362825" cy="806450"/>
          </a:xfrm>
        </p:spPr>
        <p:txBody>
          <a:bodyPr/>
          <a:lstStyle/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Dars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jadvali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qoidalar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6896A-9F0B-8BD5-7E3F-6F7B1DDDC5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74033" y="1709298"/>
            <a:ext cx="5465511" cy="204027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Haftada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3</a:t>
            </a:r>
            <a:r>
              <a:rPr lang="en-U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dars</a:t>
            </a:r>
            <a:r>
              <a:rPr lang="en-U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Z" sz="2000" dirty="0">
                <a:latin typeface="Arial" panose="020B0604020202020204" pitchFamily="34" charset="0"/>
                <a:cs typeface="Arial" panose="020B0604020202020204" pitchFamily="34" charset="0"/>
              </a:rPr>
              <a:t>80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daqiqadan</a:t>
            </a:r>
            <a:endParaRPr lang="en-U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maruza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nazariya</a:t>
            </a:r>
            <a:endParaRPr lang="en-U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seminar,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amaliyot</a:t>
            </a:r>
            <a:endParaRPr lang="en-UZ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C4E26E-24DB-03CC-90BE-1351E4A84243}"/>
              </a:ext>
            </a:extLst>
          </p:cNvPr>
          <p:cNvSpPr txBox="1"/>
          <p:nvPr/>
        </p:nvSpPr>
        <p:spPr>
          <a:xfrm>
            <a:off x="974033" y="3906867"/>
            <a:ext cx="59567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Darslarga</a:t>
            </a:r>
            <a:r>
              <a:rPr lang="en-US" sz="2000" dirty="0"/>
              <a:t> </a:t>
            </a:r>
            <a:r>
              <a:rPr lang="en-US" sz="2000" dirty="0" err="1"/>
              <a:t>o‘z</a:t>
            </a:r>
            <a:r>
              <a:rPr lang="en-US" sz="2000" dirty="0"/>
              <a:t> </a:t>
            </a:r>
            <a:r>
              <a:rPr lang="en-US" sz="2000" dirty="0" err="1"/>
              <a:t>vaqtida</a:t>
            </a:r>
            <a:r>
              <a:rPr lang="en-US" sz="2000" dirty="0"/>
              <a:t> </a:t>
            </a:r>
            <a:r>
              <a:rPr lang="en-US" sz="2000" dirty="0" err="1"/>
              <a:t>kelish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</a:t>
            </a:r>
            <a:r>
              <a:rPr lang="en-US" sz="2000" dirty="0" err="1"/>
              <a:t>faol</a:t>
            </a:r>
            <a:r>
              <a:rPr lang="en-US" sz="2000" dirty="0"/>
              <a:t> </a:t>
            </a:r>
            <a:r>
              <a:rPr lang="en-US" sz="2000" dirty="0" err="1"/>
              <a:t>ishtirok</a:t>
            </a:r>
            <a:r>
              <a:rPr lang="en-US" sz="2000" dirty="0"/>
              <a:t> </a:t>
            </a:r>
            <a:r>
              <a:rPr lang="en-US" sz="2000" dirty="0" err="1"/>
              <a:t>etish</a:t>
            </a:r>
            <a:r>
              <a:rPr lang="en-US" sz="2000" dirty="0"/>
              <a:t> </a:t>
            </a:r>
            <a:endParaRPr lang="en-US" sz="2000" dirty="0" smtClean="0"/>
          </a:p>
          <a:p>
            <a:r>
              <a:rPr lang="en-US" sz="2000" dirty="0" err="1" smtClean="0"/>
              <a:t>Uy</a:t>
            </a:r>
            <a:r>
              <a:rPr lang="en-US" sz="2000" dirty="0" smtClean="0"/>
              <a:t> </a:t>
            </a:r>
            <a:r>
              <a:rPr lang="en-US" sz="2000" dirty="0" err="1"/>
              <a:t>vazifalarini</a:t>
            </a:r>
            <a:r>
              <a:rPr lang="en-US" sz="2000" dirty="0"/>
              <a:t> </a:t>
            </a:r>
            <a:r>
              <a:rPr lang="en-US" sz="2000" dirty="0" err="1"/>
              <a:t>o‘z</a:t>
            </a:r>
            <a:r>
              <a:rPr lang="en-US" sz="2000" dirty="0"/>
              <a:t> </a:t>
            </a:r>
            <a:r>
              <a:rPr lang="en-US" sz="2000" dirty="0" err="1"/>
              <a:t>vaqtida</a:t>
            </a:r>
            <a:r>
              <a:rPr lang="en-US" sz="2000" dirty="0"/>
              <a:t>, </a:t>
            </a:r>
            <a:r>
              <a:rPr lang="en-US" sz="2000" dirty="0" err="1"/>
              <a:t>hech</a:t>
            </a:r>
            <a:r>
              <a:rPr lang="en-US" sz="2000" dirty="0"/>
              <a:t> </a:t>
            </a:r>
            <a:r>
              <a:rPr lang="en-US" sz="2000" dirty="0" err="1"/>
              <a:t>qanday</a:t>
            </a:r>
            <a:r>
              <a:rPr lang="en-US" sz="2000" dirty="0"/>
              <a:t> </a:t>
            </a:r>
            <a:r>
              <a:rPr lang="en-US" sz="2000" dirty="0" err="1"/>
              <a:t>ko‘chirishsiz</a:t>
            </a:r>
            <a:r>
              <a:rPr lang="en-US" sz="2000" dirty="0"/>
              <a:t> (</a:t>
            </a:r>
            <a:r>
              <a:rPr lang="en-US" sz="2000" dirty="0" err="1"/>
              <a:t>aldovsiz</a:t>
            </a:r>
            <a:r>
              <a:rPr lang="en-US" sz="2000" dirty="0"/>
              <a:t>) </a:t>
            </a:r>
            <a:r>
              <a:rPr lang="en-US" sz="2000" dirty="0" err="1"/>
              <a:t>bajarish</a:t>
            </a:r>
            <a:r>
              <a:rPr lang="en-US" sz="2000" dirty="0"/>
              <a:t> </a:t>
            </a:r>
            <a:endParaRPr lang="en-US" sz="2000" dirty="0" smtClean="0"/>
          </a:p>
          <a:p>
            <a:r>
              <a:rPr lang="en-US" sz="2000" dirty="0" err="1" smtClean="0"/>
              <a:t>Dars</a:t>
            </a:r>
            <a:r>
              <a:rPr lang="en-US" sz="2000" dirty="0" smtClean="0"/>
              <a:t> </a:t>
            </a:r>
            <a:r>
              <a:rPr lang="en-US" sz="2000" dirty="0" err="1"/>
              <a:t>vaqtida</a:t>
            </a:r>
            <a:r>
              <a:rPr lang="en-US" sz="2000" dirty="0"/>
              <a:t> </a:t>
            </a:r>
            <a:r>
              <a:rPr lang="en-US" sz="2000" dirty="0" err="1"/>
              <a:t>o‘yin</a:t>
            </a:r>
            <a:r>
              <a:rPr lang="en-US" sz="2000" dirty="0"/>
              <a:t> </a:t>
            </a:r>
            <a:r>
              <a:rPr lang="en-US" sz="2000" dirty="0" err="1"/>
              <a:t>o‘ynamaslik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</a:t>
            </a:r>
            <a:r>
              <a:rPr lang="en-US" sz="2000" dirty="0" err="1"/>
              <a:t>uxlamaslik</a:t>
            </a:r>
            <a:endParaRPr lang="en-US" sz="2000" dirty="0"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C01EC3-8B94-1AD9-4A65-2A3B4545F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353" y="1197869"/>
            <a:ext cx="4333343" cy="28699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E74C65-DF3E-9497-D813-25475575F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53" y="4225137"/>
            <a:ext cx="4333343" cy="24375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E805366-E549-A741-B618-D5AD76EBA9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616412"/>
            <a:ext cx="6580909" cy="658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714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79BFBC-4A60-D386-B637-956DB1707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886700" cy="646331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What is Full-Stack Development?</a:t>
            </a:r>
            <a:endParaRPr lang="en-UZ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6ECC5F-24D1-27F1-DF0A-74835245A962}"/>
              </a:ext>
            </a:extLst>
          </p:cNvPr>
          <p:cNvSpPr txBox="1"/>
          <p:nvPr/>
        </p:nvSpPr>
        <p:spPr>
          <a:xfrm>
            <a:off x="838200" y="1414334"/>
            <a:ext cx="10661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Full-stack development refers to the ability to work on both the frontend (client-side) and backend (server-side) of an application.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E499BB-A09F-6884-9D20-6CF2FBDA6DE7}"/>
              </a:ext>
            </a:extLst>
          </p:cNvPr>
          <p:cNvSpPr txBox="1"/>
          <p:nvPr/>
        </p:nvSpPr>
        <p:spPr>
          <a:xfrm>
            <a:off x="838200" y="2636239"/>
            <a:ext cx="5257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Responsibilities of a Full-Stack Developer: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Building user interfaces (Frontend)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Developing server-side logic (Backend)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Managing databases (Database)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Working with APIs and network requests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Z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computer and mobile app&#10;&#10;Description automatically generated">
            <a:extLst>
              <a:ext uri="{FF2B5EF4-FFF2-40B4-BE49-F238E27FC236}">
                <a16:creationId xmlns:a16="http://schemas.microsoft.com/office/drawing/2014/main" id="{584E3A1E-26BC-7AB6-031A-6F3B90332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0772" y="2035642"/>
            <a:ext cx="4258970" cy="4136115"/>
          </a:xfrm>
          <a:prstGeom prst="rect">
            <a:avLst/>
          </a:prstGeom>
        </p:spPr>
      </p:pic>
      <p:pic>
        <p:nvPicPr>
          <p:cNvPr id="11" name="Picture 10" descr="A diagram of a server and api&#10;&#10;Description automatically generated">
            <a:extLst>
              <a:ext uri="{FF2B5EF4-FFF2-40B4-BE49-F238E27FC236}">
                <a16:creationId xmlns:a16="http://schemas.microsoft.com/office/drawing/2014/main" id="{3537BE5E-DA8A-67BA-1401-357118E56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0772" y="1925648"/>
            <a:ext cx="4258970" cy="4373733"/>
          </a:xfrm>
          <a:prstGeom prst="rect">
            <a:avLst/>
          </a:prstGeom>
        </p:spPr>
      </p:pic>
      <p:pic>
        <p:nvPicPr>
          <p:cNvPr id="23" name="Graphic 22">
            <a:hlinkClick r:id="rId4"/>
            <a:extLst>
              <a:ext uri="{FF2B5EF4-FFF2-40B4-BE49-F238E27FC236}">
                <a16:creationId xmlns:a16="http://schemas.microsoft.com/office/drawing/2014/main" id="{17A605C2-19DC-FE91-8B16-D11F73661E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26506" y="5687361"/>
            <a:ext cx="991783" cy="793427"/>
          </a:xfrm>
          <a:prstGeom prst="rect">
            <a:avLst/>
          </a:prstGeom>
        </p:spPr>
      </p:pic>
      <p:pic>
        <p:nvPicPr>
          <p:cNvPr id="25" name="Graphic 24">
            <a:hlinkClick r:id="rId7"/>
            <a:extLst>
              <a:ext uri="{FF2B5EF4-FFF2-40B4-BE49-F238E27FC236}">
                <a16:creationId xmlns:a16="http://schemas.microsoft.com/office/drawing/2014/main" id="{9D444E6A-6191-1900-F1EE-320052355CC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83491" y="5594248"/>
            <a:ext cx="991784" cy="991784"/>
          </a:xfrm>
          <a:prstGeom prst="rect">
            <a:avLst/>
          </a:prstGeom>
        </p:spPr>
      </p:pic>
      <p:pic>
        <p:nvPicPr>
          <p:cNvPr id="27" name="Graphic 26">
            <a:hlinkClick r:id="rId10"/>
            <a:extLst>
              <a:ext uri="{FF2B5EF4-FFF2-40B4-BE49-F238E27FC236}">
                <a16:creationId xmlns:a16="http://schemas.microsoft.com/office/drawing/2014/main" id="{B6E8A2D1-A85D-8EF5-FE5A-DEA1D215B01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40477" y="5517340"/>
            <a:ext cx="991784" cy="113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99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79BFBC-4A60-D386-B637-956DB1707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886700" cy="646331"/>
          </a:xfrm>
        </p:spPr>
        <p:txBody>
          <a:bodyPr/>
          <a:lstStyle/>
          <a:p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Full-Stack Development </a:t>
            </a:r>
            <a:r>
              <a:rPr lang="en-US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nima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Z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6ECC5F-24D1-27F1-DF0A-74835245A962}"/>
              </a:ext>
            </a:extLst>
          </p:cNvPr>
          <p:cNvSpPr txBox="1"/>
          <p:nvPr/>
        </p:nvSpPr>
        <p:spPr>
          <a:xfrm>
            <a:off x="838200" y="1241855"/>
            <a:ext cx="106615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Full-stack </a:t>
            </a:r>
            <a:r>
              <a:rPr lang="en-US" dirty="0" err="1"/>
              <a:t>dasturlash</a:t>
            </a:r>
            <a:r>
              <a:rPr lang="en-US" dirty="0"/>
              <a:t> (</a:t>
            </a:r>
            <a:r>
              <a:rPr lang="en-US" dirty="0" err="1"/>
              <a:t>yoki</a:t>
            </a:r>
            <a:r>
              <a:rPr lang="en-US" dirty="0"/>
              <a:t> full-stack development) —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ilova</a:t>
            </a:r>
            <a:r>
              <a:rPr lang="en-US" dirty="0"/>
              <a:t> (</a:t>
            </a:r>
            <a:r>
              <a:rPr lang="en-US" dirty="0" err="1"/>
              <a:t>veb-sayt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mobil</a:t>
            </a:r>
            <a:r>
              <a:rPr lang="en-US" dirty="0"/>
              <a:t> </a:t>
            </a:r>
            <a:r>
              <a:rPr lang="en-US" dirty="0" err="1"/>
              <a:t>ilova</a:t>
            </a:r>
            <a:r>
              <a:rPr lang="en-US" dirty="0"/>
              <a:t>) </a:t>
            </a:r>
            <a:r>
              <a:rPr lang="en-US" dirty="0" err="1"/>
              <a:t>ning</a:t>
            </a:r>
            <a:r>
              <a:rPr lang="en-US" dirty="0"/>
              <a:t> </a:t>
            </a:r>
            <a:r>
              <a:rPr lang="en-US" dirty="0" err="1"/>
              <a:t>ikkala</a:t>
            </a:r>
            <a:r>
              <a:rPr lang="en-US" dirty="0"/>
              <a:t> </a:t>
            </a:r>
            <a:r>
              <a:rPr lang="en-US" dirty="0" err="1"/>
              <a:t>tomonini</a:t>
            </a:r>
            <a:r>
              <a:rPr lang="en-US" dirty="0"/>
              <a:t> ham — frontend (</a:t>
            </a:r>
            <a:r>
              <a:rPr lang="en-US" dirty="0" err="1"/>
              <a:t>foydalanuvchi</a:t>
            </a:r>
            <a:r>
              <a:rPr lang="en-US" dirty="0"/>
              <a:t> </a:t>
            </a:r>
            <a:r>
              <a:rPr lang="en-US" dirty="0" err="1"/>
              <a:t>tarafi</a:t>
            </a:r>
            <a:r>
              <a:rPr lang="en-US" dirty="0"/>
              <a:t>, client-side) </a:t>
            </a:r>
            <a:r>
              <a:rPr lang="en-US" dirty="0" err="1"/>
              <a:t>va</a:t>
            </a:r>
            <a:r>
              <a:rPr lang="en-US" dirty="0"/>
              <a:t> backend (server </a:t>
            </a:r>
            <a:r>
              <a:rPr lang="en-US" dirty="0" err="1"/>
              <a:t>tarafi</a:t>
            </a:r>
            <a:r>
              <a:rPr lang="en-US" dirty="0"/>
              <a:t>, server-side) 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birdek</a:t>
            </a:r>
            <a:r>
              <a:rPr lang="en-US" dirty="0"/>
              <a:t> </a:t>
            </a:r>
            <a:r>
              <a:rPr lang="en-US" dirty="0" err="1"/>
              <a:t>ishlab</a:t>
            </a:r>
            <a:r>
              <a:rPr lang="en-US" dirty="0"/>
              <a:t> </a:t>
            </a:r>
            <a:r>
              <a:rPr lang="en-US" dirty="0" err="1"/>
              <a:t>chiqish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boshqara</a:t>
            </a:r>
            <a:r>
              <a:rPr lang="en-US" dirty="0"/>
              <a:t> </a:t>
            </a:r>
            <a:r>
              <a:rPr lang="en-US" dirty="0" err="1"/>
              <a:t>olish</a:t>
            </a:r>
            <a:r>
              <a:rPr lang="en-US" dirty="0"/>
              <a:t> </a:t>
            </a:r>
            <a:r>
              <a:rPr lang="en-US" dirty="0" err="1"/>
              <a:t>qobiliyatidir</a:t>
            </a:r>
            <a:r>
              <a:rPr lang="en-US" dirty="0"/>
              <a:t>.</a:t>
            </a:r>
            <a:endParaRPr lang="en-US" dirty="0"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E499BB-A09F-6884-9D20-6CF2FBDA6DE7}"/>
              </a:ext>
            </a:extLst>
          </p:cNvPr>
          <p:cNvSpPr txBox="1"/>
          <p:nvPr/>
        </p:nvSpPr>
        <p:spPr>
          <a:xfrm>
            <a:off x="838200" y="2636239"/>
            <a:ext cx="52578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Full-Stack </a:t>
            </a:r>
            <a:r>
              <a:rPr lang="en-US" b="1" dirty="0" err="1"/>
              <a:t>dasturchining</a:t>
            </a:r>
            <a:r>
              <a:rPr lang="en-US" b="1" dirty="0"/>
              <a:t> </a:t>
            </a:r>
            <a:r>
              <a:rPr lang="en-US" b="1" dirty="0" err="1"/>
              <a:t>mas'uliyatlari</a:t>
            </a:r>
            <a:r>
              <a:rPr lang="en-US" b="1" dirty="0"/>
              <a:t>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Foydalanuvchi</a:t>
            </a:r>
            <a:r>
              <a:rPr lang="en-US" dirty="0"/>
              <a:t> </a:t>
            </a:r>
            <a:r>
              <a:rPr lang="en-US" dirty="0" err="1"/>
              <a:t>interfeyslarini</a:t>
            </a:r>
            <a:r>
              <a:rPr lang="en-US" dirty="0"/>
              <a:t> (Frontend) </a:t>
            </a:r>
            <a:r>
              <a:rPr lang="en-US" dirty="0" err="1"/>
              <a:t>yaratish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loyihalashtirish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Server </a:t>
            </a:r>
            <a:r>
              <a:rPr lang="en-US" dirty="0" err="1"/>
              <a:t>tomonidagi</a:t>
            </a:r>
            <a:r>
              <a:rPr lang="en-US" dirty="0"/>
              <a:t> </a:t>
            </a:r>
            <a:r>
              <a:rPr lang="en-US" dirty="0" err="1"/>
              <a:t>logikani</a:t>
            </a:r>
            <a:r>
              <a:rPr lang="en-US" dirty="0"/>
              <a:t> (Backend) </a:t>
            </a:r>
            <a:r>
              <a:rPr lang="en-US" dirty="0" err="1"/>
              <a:t>ishlab</a:t>
            </a:r>
            <a:r>
              <a:rPr lang="en-US" dirty="0"/>
              <a:t> </a:t>
            </a:r>
            <a:r>
              <a:rPr lang="en-US" dirty="0" err="1"/>
              <a:t>chiqish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boshqarish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Ma’lumotlar</a:t>
            </a:r>
            <a:r>
              <a:rPr lang="en-US" dirty="0"/>
              <a:t> </a:t>
            </a:r>
            <a:r>
              <a:rPr lang="en-US" dirty="0" err="1"/>
              <a:t>bazalarini</a:t>
            </a:r>
            <a:r>
              <a:rPr lang="en-US" dirty="0"/>
              <a:t> (Database) </a:t>
            </a:r>
            <a:r>
              <a:rPr lang="en-US" dirty="0" err="1"/>
              <a:t>boshqarish</a:t>
            </a:r>
            <a:r>
              <a:rPr lang="en-US" dirty="0"/>
              <a:t>, </a:t>
            </a:r>
            <a:r>
              <a:rPr lang="en-US" dirty="0" err="1"/>
              <a:t>loyihalashtirish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optimallashtirish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API-lar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ishlash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tarmoq</a:t>
            </a:r>
            <a:r>
              <a:rPr lang="en-US" dirty="0"/>
              <a:t> </a:t>
            </a:r>
            <a:r>
              <a:rPr lang="en-US" dirty="0" err="1"/>
              <a:t>so‘rovlarini</a:t>
            </a:r>
            <a:r>
              <a:rPr lang="en-US" dirty="0"/>
              <a:t> (network requests) </a:t>
            </a:r>
            <a:r>
              <a:rPr lang="en-US" dirty="0" err="1"/>
              <a:t>amalga</a:t>
            </a:r>
            <a:r>
              <a:rPr lang="en-US" dirty="0"/>
              <a:t> </a:t>
            </a:r>
            <a:r>
              <a:rPr lang="en-US" dirty="0" err="1"/>
              <a:t>oshirish</a:t>
            </a:r>
            <a:endParaRPr lang="en-US" dirty="0"/>
          </a:p>
        </p:txBody>
      </p:sp>
      <p:pic>
        <p:nvPicPr>
          <p:cNvPr id="3" name="Picture 2" descr="A computer and mobile app&#10;&#10;Description automatically generated">
            <a:extLst>
              <a:ext uri="{FF2B5EF4-FFF2-40B4-BE49-F238E27FC236}">
                <a16:creationId xmlns:a16="http://schemas.microsoft.com/office/drawing/2014/main" id="{584E3A1E-26BC-7AB6-031A-6F3B90332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0772" y="2035642"/>
            <a:ext cx="4258970" cy="4136115"/>
          </a:xfrm>
          <a:prstGeom prst="rect">
            <a:avLst/>
          </a:prstGeom>
        </p:spPr>
      </p:pic>
      <p:pic>
        <p:nvPicPr>
          <p:cNvPr id="11" name="Picture 10" descr="A diagram of a server and api&#10;&#10;Description automatically generated">
            <a:extLst>
              <a:ext uri="{FF2B5EF4-FFF2-40B4-BE49-F238E27FC236}">
                <a16:creationId xmlns:a16="http://schemas.microsoft.com/office/drawing/2014/main" id="{3537BE5E-DA8A-67BA-1401-357118E56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0772" y="1925648"/>
            <a:ext cx="4258970" cy="4373733"/>
          </a:xfrm>
          <a:prstGeom prst="rect">
            <a:avLst/>
          </a:prstGeom>
        </p:spPr>
      </p:pic>
      <p:pic>
        <p:nvPicPr>
          <p:cNvPr id="23" name="Graphic 22">
            <a:hlinkClick r:id="rId4"/>
            <a:extLst>
              <a:ext uri="{FF2B5EF4-FFF2-40B4-BE49-F238E27FC236}">
                <a16:creationId xmlns:a16="http://schemas.microsoft.com/office/drawing/2014/main" id="{17A605C2-19DC-FE91-8B16-D11F73661E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26506" y="5687361"/>
            <a:ext cx="991783" cy="793427"/>
          </a:xfrm>
          <a:prstGeom prst="rect">
            <a:avLst/>
          </a:prstGeom>
        </p:spPr>
      </p:pic>
      <p:pic>
        <p:nvPicPr>
          <p:cNvPr id="25" name="Graphic 24">
            <a:hlinkClick r:id="rId7"/>
            <a:extLst>
              <a:ext uri="{FF2B5EF4-FFF2-40B4-BE49-F238E27FC236}">
                <a16:creationId xmlns:a16="http://schemas.microsoft.com/office/drawing/2014/main" id="{9D444E6A-6191-1900-F1EE-320052355CC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83491" y="5594248"/>
            <a:ext cx="991784" cy="991784"/>
          </a:xfrm>
          <a:prstGeom prst="rect">
            <a:avLst/>
          </a:prstGeom>
        </p:spPr>
      </p:pic>
      <p:pic>
        <p:nvPicPr>
          <p:cNvPr id="27" name="Graphic 26">
            <a:hlinkClick r:id="rId10"/>
            <a:extLst>
              <a:ext uri="{FF2B5EF4-FFF2-40B4-BE49-F238E27FC236}">
                <a16:creationId xmlns:a16="http://schemas.microsoft.com/office/drawing/2014/main" id="{B6E8A2D1-A85D-8EF5-FE5A-DEA1D215B01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40477" y="5517340"/>
            <a:ext cx="991784" cy="113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626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45D2C-6234-DD4C-74B2-9B8B6256A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2163"/>
          </a:xfrm>
        </p:spPr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Visualization and Analogy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E20FA7-5EA8-536A-B344-3190B67D4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14898"/>
            <a:ext cx="5091113" cy="49779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606894-2EAC-8102-2ACE-2BF347AFF8BE}"/>
              </a:ext>
            </a:extLst>
          </p:cNvPr>
          <p:cNvSpPr txBox="1"/>
          <p:nvPr/>
        </p:nvSpPr>
        <p:spPr>
          <a:xfrm>
            <a:off x="6262689" y="1979891"/>
            <a:ext cx="5470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Making all hard stuff at the back of the restaurant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627C32-F9F7-B239-E360-5982B4A23464}"/>
              </a:ext>
            </a:extLst>
          </p:cNvPr>
          <p:cNvSpPr txBox="1"/>
          <p:nvPr/>
        </p:nvSpPr>
        <p:spPr>
          <a:xfrm>
            <a:off x="6262689" y="3634554"/>
            <a:ext cx="5846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Looks nice to costumers and everything on the order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2E1629-7A66-8376-0EEB-A8391EBE9019}"/>
              </a:ext>
            </a:extLst>
          </p:cNvPr>
          <p:cNvSpPr txBox="1"/>
          <p:nvPr/>
        </p:nvSpPr>
        <p:spPr>
          <a:xfrm>
            <a:off x="6262689" y="5443537"/>
            <a:ext cx="4961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Helpers who can bring dishes in front of you</a:t>
            </a:r>
          </a:p>
        </p:txBody>
      </p:sp>
    </p:spTree>
    <p:extLst>
      <p:ext uri="{BB962C8B-B14F-4D97-AF65-F5344CB8AC3E}">
        <p14:creationId xmlns:p14="http://schemas.microsoft.com/office/powerpoint/2010/main" val="1810477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45D2C-6234-DD4C-74B2-9B8B6256A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2163"/>
          </a:xfrm>
        </p:spPr>
        <p:txBody>
          <a:bodyPr/>
          <a:lstStyle/>
          <a:p>
            <a:r>
              <a:rPr lang="en-US" dirty="0" err="1" smtClean="0"/>
              <a:t>Vizualizatsiya</a:t>
            </a:r>
            <a:r>
              <a:rPr lang="en-US" dirty="0" smtClean="0"/>
              <a:t> </a:t>
            </a:r>
            <a:r>
              <a:rPr lang="en-US" dirty="0" err="1" smtClean="0"/>
              <a:t>analogiya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E20FA7-5EA8-536A-B344-3190B67D4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14898"/>
            <a:ext cx="5091113" cy="49779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606894-2EAC-8102-2ACE-2BF347AFF8BE}"/>
              </a:ext>
            </a:extLst>
          </p:cNvPr>
          <p:cNvSpPr txBox="1"/>
          <p:nvPr/>
        </p:nvSpPr>
        <p:spPr>
          <a:xfrm>
            <a:off x="6262689" y="1979891"/>
            <a:ext cx="4717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Oshxonada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oshpazlar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taom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tayyorlashadi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627C32-F9F7-B239-E360-5982B4A23464}"/>
              </a:ext>
            </a:extLst>
          </p:cNvPr>
          <p:cNvSpPr txBox="1"/>
          <p:nvPr/>
        </p:nvSpPr>
        <p:spPr>
          <a:xfrm>
            <a:off x="6262689" y="3634554"/>
            <a:ext cx="5846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Mijozlar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buyurtma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beradi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ularni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qabul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qilib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oladilar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2E1629-7A66-8376-0EEB-A8391EBE9019}"/>
              </a:ext>
            </a:extLst>
          </p:cNvPr>
          <p:cNvSpPr txBox="1"/>
          <p:nvPr/>
        </p:nvSpPr>
        <p:spPr>
          <a:xfrm>
            <a:off x="6262689" y="5443537"/>
            <a:ext cx="5423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Girgitton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ofitsant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buyurtmalarni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olib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yetkazadilar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301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F87C4-2E98-1662-4241-8072E51C2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Stack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turlari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logo with text and symbols&#10;&#10;Description automatically generated with medium confidence">
            <a:extLst>
              <a:ext uri="{FF2B5EF4-FFF2-40B4-BE49-F238E27FC236}">
                <a16:creationId xmlns:a16="http://schemas.microsoft.com/office/drawing/2014/main" id="{D62603CF-59B6-3A1C-E037-A542ACF28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925" y="1085455"/>
            <a:ext cx="4229100" cy="2830293"/>
          </a:xfrm>
          <a:prstGeom prst="rect">
            <a:avLst/>
          </a:prstGeom>
        </p:spPr>
      </p:pic>
      <p:pic>
        <p:nvPicPr>
          <p:cNvPr id="9" name="Picture 8" descr="A group of logos with text&#10;&#10;Description automatically generated">
            <a:extLst>
              <a:ext uri="{FF2B5EF4-FFF2-40B4-BE49-F238E27FC236}">
                <a16:creationId xmlns:a16="http://schemas.microsoft.com/office/drawing/2014/main" id="{0C9EEB21-EEA2-F69A-F13F-096B92FF8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82892"/>
            <a:ext cx="4229099" cy="2909033"/>
          </a:xfrm>
          <a:prstGeom prst="rect">
            <a:avLst/>
          </a:prstGeom>
        </p:spPr>
      </p:pic>
      <p:pic>
        <p:nvPicPr>
          <p:cNvPr id="11" name="Picture 10" descr="A logo with text and animals&#10;&#10;Description automatically generated with medium confidence">
            <a:extLst>
              <a:ext uri="{FF2B5EF4-FFF2-40B4-BE49-F238E27FC236}">
                <a16:creationId xmlns:a16="http://schemas.microsoft.com/office/drawing/2014/main" id="{FC5F6849-E5DD-B823-3B6F-4CB7D447F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0924" y="4030025"/>
            <a:ext cx="4229099" cy="2710362"/>
          </a:xfrm>
          <a:prstGeom prst="rect">
            <a:avLst/>
          </a:prstGeom>
        </p:spPr>
      </p:pic>
      <p:pic>
        <p:nvPicPr>
          <p:cNvPr id="13" name="Picture 12" descr="A group of logos with red border&#10;&#10;Description automatically generated with medium confidence">
            <a:extLst>
              <a:ext uri="{FF2B5EF4-FFF2-40B4-BE49-F238E27FC236}">
                <a16:creationId xmlns:a16="http://schemas.microsoft.com/office/drawing/2014/main" id="{D8BBC4B5-EDF1-E582-03BC-6CC8039A62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991924"/>
            <a:ext cx="4229098" cy="27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977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C2A2A-53AC-2520-D5AA-DA40E8866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09509" cy="653184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Client-Server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Arxitekturasi</a:t>
            </a:r>
            <a:endParaRPr lang="en-UZ" dirty="0"/>
          </a:p>
        </p:txBody>
      </p:sp>
      <p:pic>
        <p:nvPicPr>
          <p:cNvPr id="6" name="Picture 5" descr="A diagram of a cloud computing system&#10;&#10;Description automatically generated">
            <a:extLst>
              <a:ext uri="{FF2B5EF4-FFF2-40B4-BE49-F238E27FC236}">
                <a16:creationId xmlns:a16="http://schemas.microsoft.com/office/drawing/2014/main" id="{920097B7-1B82-EA45-5519-56EB81B1C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95713"/>
            <a:ext cx="9968345" cy="463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66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51F58B1-A0CF-732E-A98A-DAF5AC233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941" y="978311"/>
            <a:ext cx="9206118" cy="587968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D7BF363-AE6B-ACE0-03C3-8536CC093842}"/>
              </a:ext>
            </a:extLst>
          </p:cNvPr>
          <p:cNvSpPr/>
          <p:nvPr/>
        </p:nvSpPr>
        <p:spPr>
          <a:xfrm>
            <a:off x="1610591" y="4260273"/>
            <a:ext cx="8988136" cy="2483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Z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4828A1-067E-24E6-C846-9F57F1FAF9B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6809509" cy="653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Client-Server Architecture</a:t>
            </a:r>
            <a:endParaRPr lang="en-UZ" dirty="0"/>
          </a:p>
        </p:txBody>
      </p:sp>
    </p:spTree>
    <p:extLst>
      <p:ext uri="{BB962C8B-B14F-4D97-AF65-F5344CB8AC3E}">
        <p14:creationId xmlns:p14="http://schemas.microsoft.com/office/powerpoint/2010/main" val="137546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0AA06-B3A6-101D-D179-7649A24C9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Understanding APIs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diagram of a computer application&#10;&#10;Description automatically generated">
            <a:extLst>
              <a:ext uri="{FF2B5EF4-FFF2-40B4-BE49-F238E27FC236}">
                <a16:creationId xmlns:a16="http://schemas.microsoft.com/office/drawing/2014/main" id="{193D0611-FC26-973D-8EC5-45571377B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04212"/>
            <a:ext cx="10515600" cy="495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983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7C2E-8980-7198-CA25-D6050BF5A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Understanding APIs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14159E-0263-55DC-1273-6F2E0DA340F0}"/>
              </a:ext>
            </a:extLst>
          </p:cNvPr>
          <p:cNvSpPr txBox="1"/>
          <p:nvPr/>
        </p:nvSpPr>
        <p:spPr>
          <a:xfrm>
            <a:off x="838200" y="2581989"/>
            <a:ext cx="5257800" cy="3780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Types of APIs: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REST (Representational State Transfer)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GraphQL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(Graph Query Language)</a:t>
            </a:r>
          </a:p>
          <a:p>
            <a:pPr lvl="1">
              <a:lnSpc>
                <a:spcPct val="15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Common API Methods: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GET – Retrieve data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 – Send new data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PUT – Update existing data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DELETE – Remove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776228-EE59-187E-8743-3421B9C887B6}"/>
              </a:ext>
            </a:extLst>
          </p:cNvPr>
          <p:cNvSpPr txBox="1"/>
          <p:nvPr/>
        </p:nvSpPr>
        <p:spPr>
          <a:xfrm>
            <a:off x="838200" y="1690688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Definition: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APIs (Application Programming Interfaces) allow different software applications to communicate with each other.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 descr="A diagram of a cloud with text&#10;&#10;Description automatically generated">
            <a:extLst>
              <a:ext uri="{FF2B5EF4-FFF2-40B4-BE49-F238E27FC236}">
                <a16:creationId xmlns:a16="http://schemas.microsoft.com/office/drawing/2014/main" id="{E7E89E6B-2F74-E58A-AC3D-DAF55CB21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37019"/>
            <a:ext cx="5586243" cy="220333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7EAE23A-39AE-5077-AD74-442F6FB2F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389" y="4540358"/>
            <a:ext cx="4491463" cy="228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87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7C2E-8980-7198-CA25-D6050BF5A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API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ning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mohiyati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14159E-0263-55DC-1273-6F2E0DA340F0}"/>
              </a:ext>
            </a:extLst>
          </p:cNvPr>
          <p:cNvSpPr txBox="1"/>
          <p:nvPr/>
        </p:nvSpPr>
        <p:spPr>
          <a:xfrm>
            <a:off x="838200" y="2581989"/>
            <a:ext cx="52578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REST (Representational State Transfer)</a:t>
            </a:r>
            <a:r>
              <a:rPr lang="en-US" dirty="0"/>
              <a:t> </a:t>
            </a:r>
            <a:r>
              <a:rPr lang="en-US" dirty="0" err="1"/>
              <a:t>Eng</a:t>
            </a:r>
            <a:r>
              <a:rPr lang="en-US" dirty="0"/>
              <a:t> </a:t>
            </a:r>
            <a:r>
              <a:rPr lang="en-US" dirty="0" err="1"/>
              <a:t>keng</a:t>
            </a:r>
            <a:r>
              <a:rPr lang="en-US" dirty="0"/>
              <a:t> </a:t>
            </a:r>
            <a:r>
              <a:rPr lang="en-US" dirty="0" err="1"/>
              <a:t>tarqalgan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klassik</a:t>
            </a:r>
            <a:r>
              <a:rPr lang="en-US" dirty="0"/>
              <a:t> API </a:t>
            </a:r>
            <a:r>
              <a:rPr lang="en-US" dirty="0" err="1"/>
              <a:t>turi</a:t>
            </a:r>
            <a:r>
              <a:rPr lang="en-US" dirty="0"/>
              <a:t>.</a:t>
            </a:r>
          </a:p>
          <a:p>
            <a:r>
              <a:rPr lang="en-US" dirty="0" err="1"/>
              <a:t>Resurslarga</a:t>
            </a:r>
            <a:r>
              <a:rPr lang="en-US" dirty="0"/>
              <a:t> (users, posts, products) URL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murojaat</a:t>
            </a:r>
            <a:r>
              <a:rPr lang="en-US" dirty="0"/>
              <a:t> </a:t>
            </a:r>
            <a:r>
              <a:rPr lang="en-US" dirty="0" err="1"/>
              <a:t>qilinadi</a:t>
            </a:r>
            <a:r>
              <a:rPr lang="en-US" dirty="0"/>
              <a:t>.</a:t>
            </a:r>
          </a:p>
          <a:p>
            <a:r>
              <a:rPr lang="en-US" dirty="0"/>
              <a:t>HTTP </a:t>
            </a:r>
            <a:r>
              <a:rPr lang="en-US" dirty="0" err="1"/>
              <a:t>metodlari</a:t>
            </a:r>
            <a:r>
              <a:rPr lang="en-US" dirty="0"/>
              <a:t> (GET, POST, PUT, DELETE)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harakat</a:t>
            </a:r>
            <a:r>
              <a:rPr lang="en-US" dirty="0"/>
              <a:t> </a:t>
            </a:r>
            <a:r>
              <a:rPr lang="en-US" dirty="0" err="1"/>
              <a:t>bajariladi</a:t>
            </a:r>
            <a:r>
              <a:rPr lang="en-US" dirty="0"/>
              <a:t>.</a:t>
            </a:r>
          </a:p>
          <a:p>
            <a:r>
              <a:rPr lang="en-US" dirty="0" err="1"/>
              <a:t>Javob</a:t>
            </a:r>
            <a:r>
              <a:rPr lang="en-US" dirty="0"/>
              <a:t> </a:t>
            </a:r>
            <a:r>
              <a:rPr lang="en-US" dirty="0" err="1"/>
              <a:t>odatda</a:t>
            </a:r>
            <a:r>
              <a:rPr lang="en-US" dirty="0"/>
              <a:t> JSON </a:t>
            </a:r>
            <a:r>
              <a:rPr lang="en-US" dirty="0" err="1"/>
              <a:t>formatida</a:t>
            </a:r>
            <a:r>
              <a:rPr lang="en-US" dirty="0"/>
              <a:t> </a:t>
            </a:r>
            <a:r>
              <a:rPr lang="en-US" dirty="0" err="1"/>
              <a:t>keladi</a:t>
            </a:r>
            <a:r>
              <a:rPr lang="en-US" dirty="0"/>
              <a:t>.</a:t>
            </a:r>
          </a:p>
          <a:p>
            <a:r>
              <a:rPr lang="en-US" dirty="0"/>
              <a:t>Stateless —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so‘rov</a:t>
            </a:r>
            <a:r>
              <a:rPr lang="en-US" dirty="0"/>
              <a:t> </a:t>
            </a:r>
            <a:r>
              <a:rPr lang="en-US" dirty="0" err="1"/>
              <a:t>mustaqil</a:t>
            </a:r>
            <a:r>
              <a:rPr lang="en-US" dirty="0"/>
              <a:t> (</a:t>
            </a:r>
            <a:r>
              <a:rPr lang="en-US" dirty="0" err="1"/>
              <a:t>oldingi</a:t>
            </a:r>
            <a:r>
              <a:rPr lang="en-US" dirty="0"/>
              <a:t> </a:t>
            </a:r>
            <a:r>
              <a:rPr lang="en-US" dirty="0" err="1"/>
              <a:t>so‘rovni</a:t>
            </a:r>
            <a:r>
              <a:rPr lang="en-US" dirty="0"/>
              <a:t> </a:t>
            </a:r>
            <a:r>
              <a:rPr lang="en-US" dirty="0" err="1"/>
              <a:t>eslamaydi</a:t>
            </a:r>
            <a:r>
              <a:rPr lang="en-US" dirty="0"/>
              <a:t>).</a:t>
            </a:r>
          </a:p>
          <a:p>
            <a:r>
              <a:rPr lang="en-US" dirty="0" err="1"/>
              <a:t>Misol</a:t>
            </a:r>
            <a:r>
              <a:rPr lang="en-US" dirty="0"/>
              <a:t> </a:t>
            </a:r>
            <a:r>
              <a:rPr lang="en-US" dirty="0" err="1"/>
              <a:t>endpointlar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GET /</a:t>
            </a:r>
            <a:r>
              <a:rPr lang="en-US" dirty="0" err="1"/>
              <a:t>api</a:t>
            </a:r>
            <a:r>
              <a:rPr lang="en-US" dirty="0"/>
              <a:t>/users — </a:t>
            </a:r>
            <a:r>
              <a:rPr lang="en-US" dirty="0" err="1"/>
              <a:t>barcha</a:t>
            </a:r>
            <a:r>
              <a:rPr lang="en-US" dirty="0"/>
              <a:t> </a:t>
            </a:r>
            <a:r>
              <a:rPr lang="en-US" dirty="0" err="1"/>
              <a:t>foydalanuvchilarni</a:t>
            </a:r>
            <a:r>
              <a:rPr lang="en-US" dirty="0"/>
              <a:t> </a:t>
            </a:r>
            <a:r>
              <a:rPr lang="en-US" dirty="0" err="1"/>
              <a:t>olish</a:t>
            </a:r>
            <a:endParaRPr lang="en-US" dirty="0"/>
          </a:p>
          <a:p>
            <a:pPr lvl="1"/>
            <a:r>
              <a:rPr lang="en-US" dirty="0"/>
              <a:t>POST /</a:t>
            </a:r>
            <a:r>
              <a:rPr lang="en-US" dirty="0" err="1"/>
              <a:t>api</a:t>
            </a:r>
            <a:r>
              <a:rPr lang="en-US" dirty="0"/>
              <a:t>/users — </a:t>
            </a:r>
            <a:r>
              <a:rPr lang="en-US" dirty="0" err="1"/>
              <a:t>yangi</a:t>
            </a:r>
            <a:r>
              <a:rPr lang="en-US" dirty="0"/>
              <a:t> </a:t>
            </a:r>
            <a:r>
              <a:rPr lang="en-US" dirty="0" err="1"/>
              <a:t>foydalanuvchi</a:t>
            </a:r>
            <a:r>
              <a:rPr lang="en-US" dirty="0"/>
              <a:t> </a:t>
            </a:r>
            <a:r>
              <a:rPr lang="en-US" dirty="0" err="1"/>
              <a:t>yaratish</a:t>
            </a:r>
            <a:endParaRPr lang="en-US" dirty="0"/>
          </a:p>
          <a:p>
            <a:pPr lvl="1"/>
            <a:r>
              <a:rPr lang="en-US" dirty="0"/>
              <a:t>GET /</a:t>
            </a:r>
            <a:r>
              <a:rPr lang="en-US" dirty="0" err="1"/>
              <a:t>api</a:t>
            </a:r>
            <a:r>
              <a:rPr lang="en-US" dirty="0"/>
              <a:t>/users/123 — 123-raqamli </a:t>
            </a:r>
            <a:r>
              <a:rPr lang="en-US" dirty="0" err="1"/>
              <a:t>foydalanuvchini</a:t>
            </a:r>
            <a:r>
              <a:rPr lang="en-US" dirty="0"/>
              <a:t> </a:t>
            </a:r>
            <a:r>
              <a:rPr lang="en-US" dirty="0" err="1" smtClean="0"/>
              <a:t>olish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776228-EE59-187E-8743-3421B9C887B6}"/>
              </a:ext>
            </a:extLst>
          </p:cNvPr>
          <p:cNvSpPr txBox="1"/>
          <p:nvPr/>
        </p:nvSpPr>
        <p:spPr>
          <a:xfrm>
            <a:off x="838200" y="1564906"/>
            <a:ext cx="10515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API (Application Programming Interface) —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dasturlar</a:t>
            </a:r>
            <a:r>
              <a:rPr lang="en-US" dirty="0"/>
              <a:t> (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ilovalar</a:t>
            </a:r>
            <a:r>
              <a:rPr lang="en-US" dirty="0"/>
              <a:t>) </a:t>
            </a:r>
            <a:r>
              <a:rPr lang="en-US" dirty="0" err="1"/>
              <a:t>bir-biri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"</a:t>
            </a:r>
            <a:r>
              <a:rPr lang="en-US" dirty="0" err="1"/>
              <a:t>suhbatlashishi</a:t>
            </a:r>
            <a:r>
              <a:rPr lang="en-US" dirty="0"/>
              <a:t>"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yaratilgan</a:t>
            </a:r>
            <a:r>
              <a:rPr lang="en-US" dirty="0"/>
              <a:t> </a:t>
            </a:r>
            <a:r>
              <a:rPr lang="en-US" dirty="0" err="1"/>
              <a:t>qoida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vositalar</a:t>
            </a:r>
            <a:r>
              <a:rPr lang="en-US" dirty="0"/>
              <a:t> </a:t>
            </a:r>
            <a:r>
              <a:rPr lang="en-US" dirty="0" err="1"/>
              <a:t>to‘plami</a:t>
            </a:r>
            <a:r>
              <a:rPr lang="en-US" dirty="0"/>
              <a:t>. </a:t>
            </a:r>
            <a:r>
              <a:rPr lang="en-US" dirty="0" err="1"/>
              <a:t>Oddiy</a:t>
            </a:r>
            <a:r>
              <a:rPr lang="en-US" dirty="0"/>
              <a:t> </a:t>
            </a:r>
            <a:r>
              <a:rPr lang="en-US" dirty="0" err="1"/>
              <a:t>qilib</a:t>
            </a:r>
            <a:r>
              <a:rPr lang="en-US" dirty="0"/>
              <a:t> </a:t>
            </a:r>
            <a:r>
              <a:rPr lang="en-US" dirty="0" err="1"/>
              <a:t>aytganda</a:t>
            </a:r>
            <a:r>
              <a:rPr lang="en-US" dirty="0"/>
              <a:t>: frontend </a:t>
            </a:r>
            <a:r>
              <a:rPr lang="en-US" dirty="0" err="1"/>
              <a:t>va</a:t>
            </a:r>
            <a:r>
              <a:rPr lang="en-US" dirty="0"/>
              <a:t> backend </a:t>
            </a:r>
            <a:r>
              <a:rPr lang="en-US" dirty="0" err="1"/>
              <a:t>o‘rtasidagi</a:t>
            </a:r>
            <a:r>
              <a:rPr lang="en-US" dirty="0"/>
              <a:t> </a:t>
            </a:r>
            <a:r>
              <a:rPr lang="en-US" dirty="0" err="1"/>
              <a:t>ko‘prik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"</a:t>
            </a:r>
            <a:r>
              <a:rPr lang="en-US" dirty="0" err="1"/>
              <a:t>ofitsiant</a:t>
            </a:r>
            <a:r>
              <a:rPr lang="en-US" dirty="0"/>
              <a:t>".</a:t>
            </a:r>
            <a:endParaRPr lang="en-US" dirty="0">
              <a:effectLst/>
            </a:endParaRPr>
          </a:p>
        </p:txBody>
      </p:sp>
      <p:pic>
        <p:nvPicPr>
          <p:cNvPr id="15" name="Picture 14" descr="A diagram of a cloud with text&#10;&#10;Description automatically generated">
            <a:extLst>
              <a:ext uri="{FF2B5EF4-FFF2-40B4-BE49-F238E27FC236}">
                <a16:creationId xmlns:a16="http://schemas.microsoft.com/office/drawing/2014/main" id="{E7E89E6B-2F74-E58A-AC3D-DAF55CB21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37019"/>
            <a:ext cx="5586243" cy="220333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7EAE23A-39AE-5077-AD74-442F6FB2F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389" y="4540358"/>
            <a:ext cx="4491463" cy="228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74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7C2E-8980-7198-CA25-D6050BF5A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API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misollar</a:t>
            </a:r>
            <a:endParaRPr lang="en-U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776228-EE59-187E-8743-3421B9C887B6}"/>
              </a:ext>
            </a:extLst>
          </p:cNvPr>
          <p:cNvSpPr txBox="1"/>
          <p:nvPr/>
        </p:nvSpPr>
        <p:spPr>
          <a:xfrm>
            <a:off x="838200" y="1564906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https://jsonplaceholder.typicode.com/</a:t>
            </a:r>
            <a:endParaRPr lang="en-US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776228-EE59-187E-8743-3421B9C887B6}"/>
              </a:ext>
            </a:extLst>
          </p:cNvPr>
          <p:cNvSpPr txBox="1"/>
          <p:nvPr/>
        </p:nvSpPr>
        <p:spPr>
          <a:xfrm>
            <a:off x="838200" y="2170799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https://jsonplaceholder.typicode.com/posts</a:t>
            </a:r>
            <a:endParaRPr lang="en-US" dirty="0"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776228-EE59-187E-8743-3421B9C887B6}"/>
              </a:ext>
            </a:extLst>
          </p:cNvPr>
          <p:cNvSpPr txBox="1"/>
          <p:nvPr/>
        </p:nvSpPr>
        <p:spPr>
          <a:xfrm>
            <a:off x="838200" y="2776692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https://jsonplaceholder.typicode.com/photos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1928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5E4C3-9842-896B-217A-1135ECB8F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Z" dirty="0">
                <a:latin typeface="Arial" panose="020B0604020202020204" pitchFamily="34" charset="0"/>
                <a:cs typeface="Arial" panose="020B0604020202020204" pitchFamily="34" charset="0"/>
              </a:rPr>
              <a:t>REST API methods</a:t>
            </a:r>
          </a:p>
        </p:txBody>
      </p:sp>
      <p:pic>
        <p:nvPicPr>
          <p:cNvPr id="9" name="Picture 8" descr="A group of colorful rectangular objects&#10;&#10;Description automatically generated with medium confidence">
            <a:extLst>
              <a:ext uri="{FF2B5EF4-FFF2-40B4-BE49-F238E27FC236}">
                <a16:creationId xmlns:a16="http://schemas.microsoft.com/office/drawing/2014/main" id="{F633B247-E59B-3043-F092-AEA84A2B7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614" y="3988990"/>
            <a:ext cx="7266558" cy="2327123"/>
          </a:xfrm>
          <a:prstGeom prst="rect">
            <a:avLst/>
          </a:prstGeom>
        </p:spPr>
      </p:pic>
      <p:pic>
        <p:nvPicPr>
          <p:cNvPr id="13" name="Picture 12" descr="A close-up of a logo&#10;&#10;Description automatically generated">
            <a:extLst>
              <a:ext uri="{FF2B5EF4-FFF2-40B4-BE49-F238E27FC236}">
                <a16:creationId xmlns:a16="http://schemas.microsoft.com/office/drawing/2014/main" id="{A1880711-5860-D100-C979-9686258B4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0" y="1574524"/>
            <a:ext cx="7173094" cy="209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631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822325"/>
            <a:ext cx="10515600" cy="1325563"/>
          </a:xfrm>
        </p:spPr>
        <p:txBody>
          <a:bodyPr/>
          <a:lstStyle/>
          <a:p>
            <a:pPr algn="ctr"/>
            <a:r>
              <a:rPr lang="en-US" sz="3600" dirty="0" err="1" smtClean="0"/>
              <a:t>Sizga</a:t>
            </a:r>
            <a:r>
              <a:rPr lang="en-US" sz="3600" dirty="0" smtClean="0"/>
              <a:t> </a:t>
            </a:r>
            <a:r>
              <a:rPr lang="en-US" sz="3600" dirty="0" err="1" smtClean="0"/>
              <a:t>zo’r</a:t>
            </a:r>
            <a:r>
              <a:rPr lang="en-US" sz="3600" dirty="0" smtClean="0"/>
              <a:t> </a:t>
            </a:r>
            <a:r>
              <a:rPr lang="en-US" sz="3600" dirty="0" err="1" smtClean="0"/>
              <a:t>ilm</a:t>
            </a:r>
            <a:r>
              <a:rPr lang="en-US" sz="3600" dirty="0" smtClean="0"/>
              <a:t> </a:t>
            </a:r>
            <a:r>
              <a:rPr lang="en-US" sz="3600" dirty="0" err="1" smtClean="0"/>
              <a:t>olishingiz</a:t>
            </a:r>
            <a:r>
              <a:rPr lang="en-US" sz="3600" dirty="0" smtClean="0"/>
              <a:t> </a:t>
            </a:r>
            <a:r>
              <a:rPr lang="en-US" sz="3600" dirty="0" err="1" smtClean="0"/>
              <a:t>uchun</a:t>
            </a:r>
            <a:r>
              <a:rPr lang="en-US" sz="3600" dirty="0" smtClean="0"/>
              <a:t>, </a:t>
            </a:r>
            <a:r>
              <a:rPr lang="en-US" sz="3600" dirty="0" err="1" smtClean="0"/>
              <a:t>yaqindan</a:t>
            </a:r>
            <a:r>
              <a:rPr lang="en-US" sz="3600" dirty="0" smtClean="0"/>
              <a:t> </a:t>
            </a:r>
            <a:r>
              <a:rPr lang="en-US" sz="3600" dirty="0" err="1" smtClean="0"/>
              <a:t>yordam</a:t>
            </a:r>
            <a:r>
              <a:rPr lang="en-US" sz="3600" dirty="0" smtClean="0"/>
              <a:t> </a:t>
            </a:r>
            <a:r>
              <a:rPr lang="en-US" sz="3600" dirty="0" err="1" smtClean="0"/>
              <a:t>beradigan</a:t>
            </a:r>
            <a:r>
              <a:rPr lang="en-US" sz="3600" dirty="0" smtClean="0"/>
              <a:t> </a:t>
            </a:r>
            <a:r>
              <a:rPr lang="en-US" sz="3600" dirty="0" err="1" smtClean="0"/>
              <a:t>yagona</a:t>
            </a:r>
            <a:r>
              <a:rPr lang="en-US" sz="3600" dirty="0" smtClean="0"/>
              <a:t> </a:t>
            </a:r>
            <a:r>
              <a:rPr lang="en-US" sz="3600" dirty="0" err="1" smtClean="0"/>
              <a:t>inson</a:t>
            </a:r>
            <a:r>
              <a:rPr lang="en-US" sz="3600" dirty="0" smtClean="0"/>
              <a:t> – </a:t>
            </a:r>
            <a:r>
              <a:rPr lang="en-US" sz="3600" dirty="0" err="1" smtClean="0"/>
              <a:t>bu</a:t>
            </a:r>
            <a:r>
              <a:rPr lang="en-US" sz="3600" dirty="0" smtClean="0"/>
              <a:t> </a:t>
            </a:r>
            <a:r>
              <a:rPr lang="en-US" sz="3600" dirty="0" err="1" smtClean="0"/>
              <a:t>o’zingiz</a:t>
            </a:r>
            <a:endParaRPr lang="en-US" sz="3600" dirty="0"/>
          </a:p>
        </p:txBody>
      </p:sp>
      <p:pic>
        <p:nvPicPr>
          <p:cNvPr id="1026" name="Picture 2" descr="https://raec.su/upload/images/news/univer%20%D0%B7%D0%B0%D1%81%D1%82%D0%B0%D0%B2%D0%BA%D0%B0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2853" y="1880259"/>
            <a:ext cx="7982651" cy="3888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🫵 Index Pointing At The Viewer Emoji: Meaning &amp; Us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5504" y="1258745"/>
            <a:ext cx="709736" cy="709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1049554" y="5858027"/>
            <a:ext cx="1009289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 err="1" smtClean="0"/>
              <a:t>Mustaqil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o’rganish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qobilyatlaringizni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shakllantiring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554216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8B9E7-11C8-0CA5-9560-452D5D20C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2182813"/>
            <a:ext cx="10180320" cy="2194878"/>
          </a:xfrm>
        </p:spPr>
        <p:txBody>
          <a:bodyPr/>
          <a:lstStyle/>
          <a:p>
            <a:pPr algn="ctr"/>
            <a:r>
              <a:rPr lang="en-UZ" sz="166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65970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B018135E-CCF7-554B-B226-A40F1FABAD04}" vid="{5B8BADFA-BD7F-3441-A947-B975480A85C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1052</TotalTime>
  <Words>702</Words>
  <Application>Microsoft Office PowerPoint</Application>
  <PresentationFormat>Широкоэкранный</PresentationFormat>
  <Paragraphs>89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Full-Stack Development ga Kirish</vt:lpstr>
      <vt:lpstr>Course Purpose</vt:lpstr>
      <vt:lpstr>Kursning maqsadi</vt:lpstr>
      <vt:lpstr>Course Schedule and Rules</vt:lpstr>
      <vt:lpstr>Dars jadvali va qoidalar</vt:lpstr>
      <vt:lpstr>What is Full-Stack Development?</vt:lpstr>
      <vt:lpstr>Full-Stack Development nima?</vt:lpstr>
      <vt:lpstr>Visualization and Analogy</vt:lpstr>
      <vt:lpstr>Vizualizatsiya analogiya</vt:lpstr>
      <vt:lpstr>Stack turlari</vt:lpstr>
      <vt:lpstr>Client-Server Arxitekturasi</vt:lpstr>
      <vt:lpstr>Презентация PowerPoint</vt:lpstr>
      <vt:lpstr>Understanding APIs</vt:lpstr>
      <vt:lpstr>Understanding APIs</vt:lpstr>
      <vt:lpstr>API ning mohiyati</vt:lpstr>
      <vt:lpstr>API ga misollar</vt:lpstr>
      <vt:lpstr>REST API methods</vt:lpstr>
      <vt:lpstr>Sizga zo’r ilm olishingiz uchun, yaqindan yordam beradigan yagona inson – bu o’zingiz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Full-Stack Development</dc:title>
  <dc:creator>YUSUPOV MIRZOULUGBEK</dc:creator>
  <cp:lastModifiedBy>Пользователь</cp:lastModifiedBy>
  <cp:revision>13</cp:revision>
  <dcterms:created xsi:type="dcterms:W3CDTF">2025-02-08T10:40:15Z</dcterms:created>
  <dcterms:modified xsi:type="dcterms:W3CDTF">2026-02-16T07:05:28Z</dcterms:modified>
</cp:coreProperties>
</file>